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40080" y="1371600"/>
            <a:ext cx="7863840" cy="1097280"/>
          </a:xfrm>
          <a:prstGeom prst="roundRect">
            <a:avLst/>
          </a:prstGeom>
          <a:solidFill>
            <a:srgbClr val="2C3E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7863840" cy="1097280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ctr">
              <a:defRPr sz="3200" b="1">
                <a:solidFill>
                  <a:srgbClr val="FFFFFF"/>
                </a:solidFill>
                <a:latin typeface="Taipei Sans TC Beta"/>
              </a:defRPr>
            </a:pPr>
            <a:r>
              <a:t>Sample 2026 Cross-Border Tax Filing Update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2926080"/>
            <a:ext cx="9144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>
                <a:latin typeface="Taipei Sans TC Beta"/>
              </a:defRPr>
            </a:pPr>
            <a:r>
              <a:t>Tax Monitor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3474720"/>
            <a:ext cx="9144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 i="1">
                <a:solidFill>
                  <a:srgbClr val="2C3E6B"/>
                </a:solidFill>
                <a:latin typeface="Taipei Sans TC Beta"/>
              </a:defRPr>
            </a:pPr>
            <a:r>
              <a:t>Automated Tax Risk Monitoring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0" y="4023360"/>
            <a:ext cx="9144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latin typeface="Times New Roman"/>
              </a:defRPr>
            </a:pPr>
            <a:r>
              <a:t>May 07,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6918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latin typeface="Times New Roman"/>
              </a:defRPr>
            </a:pPr>
            <a:r>
              <a:t>2026/05/07</a:t>
            </a:r>
          </a:p>
        </p:txBody>
      </p:sp>
      <p:sp>
        <p:nvSpPr>
          <p:cNvPr id="8" name="Rectangle 7"/>
          <p:cNvSpPr/>
          <p:nvPr/>
        </p:nvSpPr>
        <p:spPr>
          <a:xfrm>
            <a:off x="3841200" y="4927500"/>
            <a:ext cx="1461599" cy="216000"/>
          </a:xfrm>
          <a:prstGeom prst="rect">
            <a:avLst/>
          </a:prstGeom>
          <a:solidFill>
            <a:srgbClr val="2C3E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841200" y="4927500"/>
            <a:ext cx="1461599" cy="2160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200">
                <a:solidFill>
                  <a:srgbClr val="FFFFFF"/>
                </a:solidFill>
                <a:latin typeface="Times New Roman"/>
              </a:defRPr>
            </a:pPr>
            <a: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0" y="486918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latin typeface="Times New Roman"/>
              </a:defRPr>
            </a:pPr>
            <a:r>
              <a:t>Tax Monitor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48000"/>
          </a:xfrm>
          <a:prstGeom prst="rect">
            <a:avLst/>
          </a:prstGeom>
          <a:solidFill>
            <a:srgbClr val="2C3E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0"/>
            <a:ext cx="9144000" cy="648000"/>
          </a:xfrm>
          <a:prstGeom prst="rect">
            <a:avLst/>
          </a:prstGeom>
          <a:noFill/>
        </p:spPr>
        <p:txBody>
          <a:bodyPr wrap="none" anchor="ctr" lIns="274320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Taipei Sans TC Beta"/>
              </a:defRPr>
            </a:pPr>
            <a:r>
              <a:t>Executive Snapshot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76600"/>
            <a:ext cx="8229600" cy="35353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222C38"/>
                </a:solidFill>
                <a:latin typeface="Taipei Sans TC Beta"/>
              </a:defRPr>
            </a:pPr>
            <a:r>
              <a:t>• 頁1：政策重點與生效日期: 2026年7月1日起實施跨境服務收入強制申報義務</a:t>
            </a:r>
          </a:p>
          <a:p>
            <a:pPr>
              <a:spcAft>
                <a:spcPts val="1200"/>
              </a:spcAft>
              <a:defRPr sz="2000">
                <a:solidFill>
                  <a:srgbClr val="222C38"/>
                </a:solidFill>
                <a:latin typeface="Taipei Sans TC Beta"/>
              </a:defRPr>
            </a:pPr>
            <a:r>
              <a:t>• 頁2：影響對象與申報門檻: 適用對象：從事跨境業務之企業（含服務貿易收入）</a:t>
            </a:r>
          </a:p>
          <a:p>
            <a:pPr>
              <a:spcAft>
                <a:spcPts val="1200"/>
              </a:spcAft>
              <a:defRPr sz="2000">
                <a:solidFill>
                  <a:srgbClr val="222C38"/>
                </a:solidFill>
                <a:latin typeface="Taipei Sans TC Beta"/>
              </a:defRPr>
            </a:pPr>
            <a:r>
              <a:t>• 頁3：風險判斷與後果: 高風險等級：罰款、審計抽查、補充文件要求</a:t>
            </a:r>
          </a:p>
          <a:p>
            <a:pPr>
              <a:spcAft>
                <a:spcPts val="1200"/>
              </a:spcAft>
              <a:defRPr sz="2000">
                <a:solidFill>
                  <a:srgbClr val="222C38"/>
                </a:solidFill>
                <a:latin typeface="Taipei Sans TC Beta"/>
              </a:defRPr>
            </a:pPr>
            <a:r>
              <a:t>• 頁4：管理重點與行動建議: 指定專案負責人：建立跨部門協調機制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86918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latin typeface="Times New Roman"/>
              </a:defRPr>
            </a:pPr>
            <a:r>
              <a:t>2026/05/07</a:t>
            </a:r>
          </a:p>
        </p:txBody>
      </p:sp>
      <p:sp>
        <p:nvSpPr>
          <p:cNvPr id="6" name="Rectangle 5"/>
          <p:cNvSpPr/>
          <p:nvPr/>
        </p:nvSpPr>
        <p:spPr>
          <a:xfrm>
            <a:off x="3841200" y="4927500"/>
            <a:ext cx="1461599" cy="216000"/>
          </a:xfrm>
          <a:prstGeom prst="rect">
            <a:avLst/>
          </a:prstGeom>
          <a:solidFill>
            <a:srgbClr val="2C3E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841200" y="4927500"/>
            <a:ext cx="1461599" cy="2160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200">
                <a:solidFill>
                  <a:srgbClr val="FFFFFF"/>
                </a:solidFill>
                <a:latin typeface="Times New Roman"/>
              </a:defRPr>
            </a:pPr>
            <a: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0" y="486918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latin typeface="Times New Roman"/>
              </a:defRPr>
            </a:pPr>
            <a:r>
              <a:t>Tax Monitor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48000"/>
          </a:xfrm>
          <a:prstGeom prst="rect">
            <a:avLst/>
          </a:prstGeom>
          <a:solidFill>
            <a:srgbClr val="2C3E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0"/>
            <a:ext cx="9144000" cy="648000"/>
          </a:xfrm>
          <a:prstGeom prst="rect">
            <a:avLst/>
          </a:prstGeom>
          <a:noFill/>
        </p:spPr>
        <p:txBody>
          <a:bodyPr wrap="none" anchor="ctr" lIns="274320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Taipei Sans TC Beta"/>
              </a:defRPr>
            </a:pPr>
            <a:r>
              <a:t>頁1：政策重點與生效日期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76600"/>
            <a:ext cx="8229600" cy="35353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1200"/>
              </a:spcAft>
              <a:defRPr sz="2200">
                <a:solidFill>
                  <a:srgbClr val="222C38"/>
                </a:solidFill>
                <a:latin typeface="Taipei Sans TC Beta"/>
              </a:defRPr>
            </a:pPr>
            <a:r>
              <a:t>• 2026年7月1日起實施跨境服務收入強制申報義務</a:t>
            </a:r>
          </a:p>
          <a:p>
            <a:pPr>
              <a:spcAft>
                <a:spcPts val="1200"/>
              </a:spcAft>
              <a:defRPr sz="2200">
                <a:solidFill>
                  <a:srgbClr val="222C38"/>
                </a:solidFill>
                <a:latin typeface="Taipei Sans TC Beta"/>
              </a:defRPr>
            </a:pPr>
            <a:r>
              <a:t>• 草案規範：跨境集團需於首次申報截止日前完成內控檢測與文件準備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86918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latin typeface="Times New Roman"/>
              </a:defRPr>
            </a:pPr>
            <a:r>
              <a:t>2026/05/07</a:t>
            </a:r>
          </a:p>
        </p:txBody>
      </p:sp>
      <p:sp>
        <p:nvSpPr>
          <p:cNvPr id="6" name="Rectangle 5"/>
          <p:cNvSpPr/>
          <p:nvPr/>
        </p:nvSpPr>
        <p:spPr>
          <a:xfrm>
            <a:off x="3841200" y="4927500"/>
            <a:ext cx="1461599" cy="216000"/>
          </a:xfrm>
          <a:prstGeom prst="rect">
            <a:avLst/>
          </a:prstGeom>
          <a:solidFill>
            <a:srgbClr val="2C3E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841200" y="4927500"/>
            <a:ext cx="1461599" cy="2160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200">
                <a:solidFill>
                  <a:srgbClr val="FFFFFF"/>
                </a:solidFill>
                <a:latin typeface="Times New Roman"/>
              </a:defRPr>
            </a:pPr>
            <a:r>
              <a:t>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0" y="486918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latin typeface="Times New Roman"/>
              </a:defRPr>
            </a:pPr>
            <a:r>
              <a:t>Tax Monitor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48000"/>
          </a:xfrm>
          <a:prstGeom prst="rect">
            <a:avLst/>
          </a:prstGeom>
          <a:solidFill>
            <a:srgbClr val="2C3E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0"/>
            <a:ext cx="9144000" cy="648000"/>
          </a:xfrm>
          <a:prstGeom prst="rect">
            <a:avLst/>
          </a:prstGeom>
          <a:noFill/>
        </p:spPr>
        <p:txBody>
          <a:bodyPr wrap="none" anchor="ctr" lIns="274320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Taipei Sans TC Beta"/>
              </a:defRPr>
            </a:pPr>
            <a:r>
              <a:t>頁2：影響對象與申報門檻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76600"/>
            <a:ext cx="8229600" cy="35353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1200"/>
              </a:spcAft>
              <a:defRPr sz="2200">
                <a:solidFill>
                  <a:srgbClr val="222C38"/>
                </a:solidFill>
                <a:latin typeface="Taipei Sans TC Beta"/>
              </a:defRPr>
            </a:pPr>
            <a:r>
              <a:t>• 適用對象：從事跨境業務之企業（含服務貿易收入）</a:t>
            </a:r>
          </a:p>
          <a:p>
            <a:pPr>
              <a:spcAft>
                <a:spcPts val="1200"/>
              </a:spcAft>
              <a:defRPr sz="2200">
                <a:solidFill>
                  <a:srgbClr val="222C38"/>
                </a:solidFill>
                <a:latin typeface="Taipei Sans TC Beta"/>
              </a:defRPr>
            </a:pPr>
            <a:r>
              <a:t>• 報告門檻：跨境服務收入達特定金額門檻（需確認具體數值）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86918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latin typeface="Times New Roman"/>
              </a:defRPr>
            </a:pPr>
            <a:r>
              <a:t>2026/05/07</a:t>
            </a:r>
          </a:p>
        </p:txBody>
      </p:sp>
      <p:sp>
        <p:nvSpPr>
          <p:cNvPr id="6" name="Rectangle 5"/>
          <p:cNvSpPr/>
          <p:nvPr/>
        </p:nvSpPr>
        <p:spPr>
          <a:xfrm>
            <a:off x="3841200" y="4927500"/>
            <a:ext cx="1461599" cy="216000"/>
          </a:xfrm>
          <a:prstGeom prst="rect">
            <a:avLst/>
          </a:prstGeom>
          <a:solidFill>
            <a:srgbClr val="2C3E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841200" y="4927500"/>
            <a:ext cx="1461599" cy="2160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200">
                <a:solidFill>
                  <a:srgbClr val="FFFFFF"/>
                </a:solidFill>
                <a:latin typeface="Times New Roman"/>
              </a:defRPr>
            </a:pPr>
            <a:r>
              <a:t>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0" y="486918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latin typeface="Times New Roman"/>
              </a:defRPr>
            </a:pPr>
            <a:r>
              <a:t>Tax Monitor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48000"/>
          </a:xfrm>
          <a:prstGeom prst="rect">
            <a:avLst/>
          </a:prstGeom>
          <a:solidFill>
            <a:srgbClr val="2C3E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0"/>
            <a:ext cx="9144000" cy="648000"/>
          </a:xfrm>
          <a:prstGeom prst="rect">
            <a:avLst/>
          </a:prstGeom>
          <a:noFill/>
        </p:spPr>
        <p:txBody>
          <a:bodyPr wrap="none" anchor="ctr" lIns="274320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Taipei Sans TC Beta"/>
              </a:defRPr>
            </a:pPr>
            <a:r>
              <a:t>頁3：風險判斷與後果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76600"/>
            <a:ext cx="8229600" cy="35353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1200"/>
              </a:spcAft>
              <a:defRPr sz="2200">
                <a:solidFill>
                  <a:srgbClr val="222C38"/>
                </a:solidFill>
                <a:latin typeface="Taipei Sans TC Beta"/>
              </a:defRPr>
            </a:pPr>
            <a:r>
              <a:t>• 高風險等級：罰款、審計抽查、補充文件要求</a:t>
            </a:r>
          </a:p>
          <a:p>
            <a:pPr>
              <a:spcAft>
                <a:spcPts val="1200"/>
              </a:spcAft>
              <a:defRPr sz="2200">
                <a:solidFill>
                  <a:srgbClr val="222C38"/>
                </a:solidFill>
                <a:latin typeface="Taipei Sans TC Beta"/>
              </a:defRPr>
            </a:pPr>
            <a:r>
              <a:t>• 違規後果：可能面臨稅務機關主動調查與處罰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86918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latin typeface="Times New Roman"/>
              </a:defRPr>
            </a:pPr>
            <a:r>
              <a:t>2026/05/07</a:t>
            </a:r>
          </a:p>
        </p:txBody>
      </p:sp>
      <p:sp>
        <p:nvSpPr>
          <p:cNvPr id="6" name="Rectangle 5"/>
          <p:cNvSpPr/>
          <p:nvPr/>
        </p:nvSpPr>
        <p:spPr>
          <a:xfrm>
            <a:off x="3841200" y="4927500"/>
            <a:ext cx="1461599" cy="216000"/>
          </a:xfrm>
          <a:prstGeom prst="rect">
            <a:avLst/>
          </a:prstGeom>
          <a:solidFill>
            <a:srgbClr val="2C3E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841200" y="4927500"/>
            <a:ext cx="1461599" cy="2160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200">
                <a:solidFill>
                  <a:srgbClr val="FFFFFF"/>
                </a:solidFill>
                <a:latin typeface="Times New Roman"/>
              </a:defRPr>
            </a:pPr>
            <a:r>
              <a:t>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0" y="486918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latin typeface="Times New Roman"/>
              </a:defRPr>
            </a:pPr>
            <a:r>
              <a:t>Tax Monitor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48000"/>
          </a:xfrm>
          <a:prstGeom prst="rect">
            <a:avLst/>
          </a:prstGeom>
          <a:solidFill>
            <a:srgbClr val="2C3E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0"/>
            <a:ext cx="9144000" cy="648000"/>
          </a:xfrm>
          <a:prstGeom prst="rect">
            <a:avLst/>
          </a:prstGeom>
          <a:noFill/>
        </p:spPr>
        <p:txBody>
          <a:bodyPr wrap="none" anchor="ctr" lIns="274320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Taipei Sans TC Beta"/>
              </a:defRPr>
            </a:pPr>
            <a:r>
              <a:t>頁4：管理重點與行動建議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76600"/>
            <a:ext cx="8229600" cy="35353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1200"/>
              </a:spcAft>
              <a:defRPr sz="2200">
                <a:solidFill>
                  <a:srgbClr val="222C38"/>
                </a:solidFill>
                <a:latin typeface="Taipei Sans TC Beta"/>
              </a:defRPr>
            </a:pPr>
            <a:r>
              <a:t>• 指定專案負責人：建立跨部門協調機制</a:t>
            </a:r>
          </a:p>
          <a:p>
            <a:pPr>
              <a:spcAft>
                <a:spcPts val="1200"/>
              </a:spcAft>
              <a:defRPr sz="2200">
                <a:solidFill>
                  <a:srgbClr val="222C38"/>
                </a:solidFill>
                <a:latin typeface="Taipei Sans TC Beta"/>
              </a:defRPr>
            </a:pPr>
            <a:r>
              <a:t>• 內控檢測：於2026年Q2前完成流程測試</a:t>
            </a:r>
          </a:p>
          <a:p>
            <a:pPr>
              <a:spcAft>
                <a:spcPts val="1200"/>
              </a:spcAft>
              <a:defRPr sz="2200">
                <a:solidFill>
                  <a:srgbClr val="222C38"/>
                </a:solidFill>
                <a:latin typeface="Taipei Sans TC Beta"/>
              </a:defRPr>
            </a:pPr>
            <a:r>
              <a:t>• 文件準備：儲備合規證明文件與交易紀錄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86918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latin typeface="Times New Roman"/>
              </a:defRPr>
            </a:pPr>
            <a:r>
              <a:t>2026/05/07</a:t>
            </a:r>
          </a:p>
        </p:txBody>
      </p:sp>
      <p:sp>
        <p:nvSpPr>
          <p:cNvPr id="6" name="Rectangle 5"/>
          <p:cNvSpPr/>
          <p:nvPr/>
        </p:nvSpPr>
        <p:spPr>
          <a:xfrm>
            <a:off x="3841200" y="4927500"/>
            <a:ext cx="1461599" cy="216000"/>
          </a:xfrm>
          <a:prstGeom prst="rect">
            <a:avLst/>
          </a:prstGeom>
          <a:solidFill>
            <a:srgbClr val="2C3E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841200" y="4927500"/>
            <a:ext cx="1461599" cy="2160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200">
                <a:solidFill>
                  <a:srgbClr val="FFFFFF"/>
                </a:solidFill>
                <a:latin typeface="Times New Roman"/>
              </a:defRPr>
            </a:pPr>
            <a:r>
              <a:t>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0" y="486918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latin typeface="Times New Roman"/>
              </a:defRPr>
            </a:pPr>
            <a:r>
              <a:t>Tax Monitor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48000"/>
          </a:xfrm>
          <a:prstGeom prst="rect">
            <a:avLst/>
          </a:prstGeom>
          <a:solidFill>
            <a:srgbClr val="2C3E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0"/>
            <a:ext cx="9144000" cy="648000"/>
          </a:xfrm>
          <a:prstGeom prst="rect">
            <a:avLst/>
          </a:prstGeom>
          <a:noFill/>
        </p:spPr>
        <p:txBody>
          <a:bodyPr wrap="none" anchor="ctr" lIns="274320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Taipei Sans TC Beta"/>
              </a:defRPr>
            </a:pPr>
            <a:r>
              <a:t>資料來源 / Sources &amp; Citations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76600"/>
            <a:ext cx="8229600" cy="35353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1200"/>
              </a:spcAft>
              <a:defRPr sz="2200">
                <a:solidFill>
                  <a:srgbClr val="222C38"/>
                </a:solidFill>
                <a:latin typeface="Taipei Sans TC Beta"/>
              </a:defRPr>
            </a:pPr>
            <a:r>
              <a:t>• 原始文件 / Source title: Sample 2026 Cross-Border Tax Filing Update</a:t>
            </a:r>
          </a:p>
          <a:p>
            <a:pPr>
              <a:spcAft>
                <a:spcPts val="1200"/>
              </a:spcAft>
              <a:defRPr sz="2200">
                <a:solidFill>
                  <a:srgbClr val="222C38"/>
                </a:solidFill>
                <a:latin typeface="Taipei Sans TC Beta"/>
              </a:defRPr>
            </a:pPr>
            <a:r>
              <a:t>• 來源網址 / URL: http://127.0.0.1:64468/sample_tax_update.html</a:t>
            </a:r>
          </a:p>
          <a:p>
            <a:pPr>
              <a:spcAft>
                <a:spcPts val="1200"/>
              </a:spcAft>
              <a:defRPr sz="2200">
                <a:solidFill>
                  <a:srgbClr val="222C38"/>
                </a:solidFill>
                <a:latin typeface="Taipei Sans TC Beta"/>
              </a:defRPr>
            </a:pPr>
            <a:r>
              <a:t>• 來源類型 / Source: web via local_smoke_test</a:t>
            </a:r>
          </a:p>
          <a:p>
            <a:pPr>
              <a:spcAft>
                <a:spcPts val="1200"/>
              </a:spcAft>
              <a:defRPr sz="2200">
                <a:solidFill>
                  <a:srgbClr val="222C38"/>
                </a:solidFill>
                <a:latin typeface="Taipei Sans TC Beta"/>
              </a:defRPr>
            </a:pPr>
            <a:r>
              <a:t>• 原文語言 / Original language: en</a:t>
            </a:r>
          </a:p>
          <a:p>
            <a:pPr>
              <a:spcAft>
                <a:spcPts val="1200"/>
              </a:spcAft>
              <a:defRPr sz="2200">
                <a:solidFill>
                  <a:srgbClr val="222C38"/>
                </a:solidFill>
                <a:latin typeface="Taipei Sans TC Beta"/>
              </a:defRPr>
            </a:pPr>
            <a:r>
              <a:t>• 地區 / 產業: TW · technology</a:t>
            </a:r>
          </a:p>
          <a:p>
            <a:pPr>
              <a:spcAft>
                <a:spcPts val="1200"/>
              </a:spcAft>
              <a:defRPr sz="2200">
                <a:solidFill>
                  <a:srgbClr val="222C38"/>
                </a:solidFill>
                <a:latin typeface="Taipei Sans TC Beta"/>
              </a:defRPr>
            </a:pPr>
            <a:r>
              <a:t>• 匯入時間 / Ingested at: 2026-05-07T17:34:40</a:t>
            </a:r>
          </a:p>
          <a:p>
            <a:pPr>
              <a:spcAft>
                <a:spcPts val="1200"/>
              </a:spcAft>
              <a:defRPr sz="2200">
                <a:solidFill>
                  <a:srgbClr val="222C38"/>
                </a:solidFill>
                <a:latin typeface="Taipei Sans TC Beta"/>
              </a:defRPr>
            </a:pPr>
            <a:r>
              <a:t>• 風險判斷 / Risk: High (penalty, audit, filing_obligation, effective_date, draft_regulation, compliance_change)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86918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latin typeface="Times New Roman"/>
              </a:defRPr>
            </a:pPr>
            <a:r>
              <a:t>2026/05/07</a:t>
            </a:r>
          </a:p>
        </p:txBody>
      </p:sp>
      <p:sp>
        <p:nvSpPr>
          <p:cNvPr id="6" name="Rectangle 5"/>
          <p:cNvSpPr/>
          <p:nvPr/>
        </p:nvSpPr>
        <p:spPr>
          <a:xfrm>
            <a:off x="3841200" y="4927500"/>
            <a:ext cx="1461599" cy="216000"/>
          </a:xfrm>
          <a:prstGeom prst="rect">
            <a:avLst/>
          </a:prstGeom>
          <a:solidFill>
            <a:srgbClr val="2C3E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841200" y="4927500"/>
            <a:ext cx="1461599" cy="2160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200">
                <a:solidFill>
                  <a:srgbClr val="FFFFFF"/>
                </a:solidFill>
                <a:latin typeface="Times New Roman"/>
              </a:defRPr>
            </a:pPr>
            <a:r>
              <a:t>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0" y="486918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latin typeface="Times New Roman"/>
              </a:defRPr>
            </a:pPr>
            <a:r>
              <a:t>Tax Monitor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